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Jan13</c:v>
                  </c:pt>
                  <c:pt idx="1">
                    <c:v>Feb13</c:v>
                  </c:pt>
                  <c:pt idx="2">
                    <c:v>Mar13</c:v>
                  </c:pt>
                  <c:pt idx="3">
                    <c:v>Apr13</c:v>
                  </c:pt>
                  <c:pt idx="4">
                    <c:v>May13</c:v>
                  </c:pt>
                  <c:pt idx="5">
                    <c:v>Jun13</c:v>
                  </c:pt>
                  <c:pt idx="6">
                    <c:v>Jul13</c:v>
                  </c:pt>
                  <c:pt idx="7">
                    <c:v>Aug13</c:v>
                  </c:pt>
                  <c:pt idx="8">
                    <c:v>Sep13</c:v>
                  </c:pt>
                  <c:pt idx="9">
                    <c:v>Oct13</c:v>
                  </c:pt>
                  <c:pt idx="10">
                    <c:v>Nov13</c:v>
                  </c:pt>
                  <c:pt idx="11">
                    <c:v>Dec13</c:v>
                  </c:pt>
                  <c:pt idx="12">
                    <c:v>Jan14</c:v>
                  </c:pt>
                  <c:pt idx="13">
                    <c:v>Feb14</c:v>
                  </c:pt>
                  <c:pt idx="14">
                    <c:v>Mar14</c:v>
                  </c:pt>
                  <c:pt idx="15">
                    <c:v>Apr14</c:v>
                  </c:pt>
                  <c:pt idx="16">
                    <c:v>May14</c:v>
                  </c:pt>
                  <c:pt idx="17">
                    <c:v>Jun14</c:v>
                  </c:pt>
                  <c:pt idx="18">
                    <c:v>Jul14</c:v>
                  </c:pt>
                  <c:pt idx="19">
                    <c:v>Aug14</c:v>
                  </c:pt>
                  <c:pt idx="20">
                    <c:v>Sep14</c:v>
                  </c:pt>
                  <c:pt idx="21">
                    <c:v>Oct14</c:v>
                  </c:pt>
                  <c:pt idx="22">
                    <c:v>Nov14</c:v>
                  </c:pt>
                  <c:pt idx="23">
                    <c:v>Dec14</c:v>
                  </c:pt>
                  <c:pt idx="24">
                    <c:v>Jan15</c:v>
                  </c:pt>
                  <c:pt idx="25">
                    <c:v>Feb15</c:v>
                  </c:pt>
                  <c:pt idx="26">
                    <c:v>Mar15</c:v>
                  </c:pt>
                  <c:pt idx="27">
                    <c:v>Apr15</c:v>
                  </c:pt>
                  <c:pt idx="28">
                    <c:v>May15</c:v>
                  </c:pt>
                  <c:pt idx="29">
                    <c:v>Jun15</c:v>
                  </c:pt>
                  <c:pt idx="30">
                    <c:v>Jul15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6240.5</c:v>
                </c:pt>
                <c:pt idx="1">
                  <c:v>6428.8</c:v>
                </c:pt>
                <c:pt idx="2">
                  <c:v>7213.1</c:v>
                </c:pt>
                <c:pt idx="3">
                  <c:v>6579.8</c:v>
                </c:pt>
                <c:pt idx="4">
                  <c:v>7077</c:v>
                </c:pt>
                <c:pt idx="5">
                  <c:v>6467.7</c:v>
                </c:pt>
                <c:pt idx="6">
                  <c:v>6923.6</c:v>
                </c:pt>
                <c:pt idx="7">
                  <c:v>6596.4</c:v>
                </c:pt>
                <c:pt idx="8">
                  <c:v>6363.6</c:v>
                </c:pt>
                <c:pt idx="9">
                  <c:v>6473.3</c:v>
                </c:pt>
                <c:pt idx="10">
                  <c:v>6904.5</c:v>
                </c:pt>
                <c:pt idx="11">
                  <c:v>8613.5</c:v>
                </c:pt>
                <c:pt idx="12">
                  <c:v>6540.3</c:v>
                </c:pt>
                <c:pt idx="13">
                  <c:v>6678.5</c:v>
                </c:pt>
                <c:pt idx="14">
                  <c:v>6654.7</c:v>
                </c:pt>
                <c:pt idx="15">
                  <c:v>7227.6</c:v>
                </c:pt>
                <c:pt idx="16">
                  <c:v>6948.1</c:v>
                </c:pt>
                <c:pt idx="17">
                  <c:v>7251.2</c:v>
                </c:pt>
                <c:pt idx="18">
                  <c:v>6893.9</c:v>
                </c:pt>
                <c:pt idx="19">
                  <c:v>6714.3</c:v>
                </c:pt>
                <c:pt idx="20">
                  <c:v>6758.8</c:v>
                </c:pt>
                <c:pt idx="21">
                  <c:v>6757.6</c:v>
                </c:pt>
                <c:pt idx="22">
                  <c:v>7539.6</c:v>
                </c:pt>
                <c:pt idx="23">
                  <c:v>8603.8</c:v>
                </c:pt>
                <c:pt idx="24">
                  <c:v>6913.2</c:v>
                </c:pt>
                <c:pt idx="25">
                  <c:v>6660.5</c:v>
                </c:pt>
                <c:pt idx="26">
                  <c:v>7071.5</c:v>
                </c:pt>
                <c:pt idx="27">
                  <c:v>7349.1</c:v>
                </c:pt>
                <c:pt idx="28">
                  <c:v>7308.8</c:v>
                </c:pt>
                <c:pt idx="29">
                  <c:v>7295.6</c:v>
                </c:pt>
                <c:pt idx="30">
                  <c:v>7033.3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4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6B8C"/>
                    </a:solidFill>
                    <a:latin typeface="Arial"/>
                  </a:rPr>
                  <a:t>Avg Sales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Normal day</c:v>
                  </c:pt>
                  <c:pt idx="1">
                    <c:v>Day before</c:v>
                  </c:pt>
                  <c:pt idx="2">
                    <c:v>Holiday</c:v>
                  </c:pt>
                  <c:pt idx="3">
                    <c:v>Day after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6905</c:v>
                </c:pt>
                <c:pt idx="1">
                  <c:v>7750</c:v>
                </c:pt>
                <c:pt idx="2">
                  <c:v>8809</c:v>
                </c:pt>
                <c:pt idx="3">
                  <c:v>7635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Promo</c:v>
                  </c:pt>
                  <c:pt idx="1">
                    <c:v>Promo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5930</c:v>
                </c:pt>
                <c:pt idx="1">
                  <c:v>8229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Customers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Promo</c:v>
                  </c:pt>
                  <c:pt idx="1">
                    <c:v>Promo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697</c:v>
                </c:pt>
                <c:pt idx="1">
                  <c:v>844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/ Customer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Promo</c:v>
                  </c:pt>
                  <c:pt idx="1">
                    <c:v>Promo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8.94</c:v>
                </c:pt>
                <c:pt idx="1">
                  <c:v>10.18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7809</c:v>
                </c:pt>
                <c:pt idx="1">
                  <c:v>7005</c:v>
                </c:pt>
                <c:pt idx="2">
                  <c:v>6556</c:v>
                </c:pt>
                <c:pt idx="3">
                  <c:v>6248</c:v>
                </c:pt>
                <c:pt idx="4">
                  <c:v>6723</c:v>
                </c:pt>
                <c:pt idx="5">
                  <c:v>5848</c:v>
                </c:pt>
                <c:pt idx="6">
                  <c:v>204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Basic (a)</c:v>
                  </c:pt>
                  <c:pt idx="1">
                    <c:v>Extra (b)</c:v>
                  </c:pt>
                  <c:pt idx="2">
                    <c:v>Extended (c)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6622</c:v>
                </c:pt>
                <c:pt idx="1">
                  <c:v>8643</c:v>
                </c:pt>
                <c:pt idx="2">
                  <c:v>7301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Very Close</c:v>
                  </c:pt>
                  <c:pt idx="1">
                    <c:v>Close</c:v>
                  </c:pt>
                  <c:pt idx="2">
                    <c:v>Medium</c:v>
                  </c:pt>
                  <c:pt idx="3">
                    <c:v>Far</c:v>
                  </c:pt>
                  <c:pt idx="4">
                    <c:v>Very Far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7597</c:v>
                </c:pt>
                <c:pt idx="1">
                  <c:v>6847</c:v>
                </c:pt>
                <c:pt idx="2">
                  <c:v>6698</c:v>
                </c:pt>
                <c:pt idx="3">
                  <c:v>6805</c:v>
                </c:pt>
                <c:pt idx="4">
                  <c:v>6829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SchoolHoliday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Train</c:v>
                  </c:pt>
                  <c:pt idx="1">
                    <c:v>Test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17.9</c:v>
                </c:pt>
                <c:pt idx="1">
                  <c:v>44.3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Rossmann Store Sales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Interim Findings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Customer Purchasing Behaviour Across 1,115 Stores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Jan 2013 – Jul 2015   |   NextHikes IT Solutions for Rossmann Pharmaceuticals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 &amp; Holiday Effects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December peak every year; sales spike the day before a holiday, then dip after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Sales by Month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3736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63524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Holidays: Avg Sales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7635240" y="173736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635240" y="43434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863840" y="448056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Selection-effect insight: </a:t>
            </a:r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few stores that stay open ON a holiday post the highest average sales of all (8,809) — even above the pre-holiday rush. Likely only exceptional, high-traffic stores trade that day, with nowhere else nearby for customers to shop.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 Effectiveness &amp; Targeting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 lift sales, footfall, AND basket size — but the payoff varies sharply by store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22402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292608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Customers</a:t>
            </a:r>
            <a:endParaRPr lang="en-US" sz="11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2926080" y="1554480"/>
          <a:ext cx="22402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39496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Customer</a:t>
            </a:r>
            <a:endParaRPr lang="en-US" sz="115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5394960" y="1554480"/>
          <a:ext cx="22402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7863840" y="155448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001000" y="1664208"/>
            <a:ext cx="3566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+40.6%</a:t>
            </a:r>
            <a:endParaRPr lang="en-US" sz="3000" dirty="0"/>
          </a:p>
        </p:txBody>
      </p:sp>
      <p:sp>
        <p:nvSpPr>
          <p:cNvPr id="12" name="Text 7"/>
          <p:cNvSpPr txBox="1"/>
          <p:nvPr/>
        </p:nvSpPr>
        <p:spPr>
          <a:xfrm>
            <a:off x="8001000" y="2404872"/>
            <a:ext cx="35661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promo sales uplift, across all stores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863840" y="3154680"/>
            <a:ext cx="3840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092440" y="3337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one-size-fits-all: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ranges from strongly negative to well over +100% depending on the store. Promos aren't just redistributing spend — they bring both more customers and bigger baskets — but ROI is highly store-specific.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promo budget toward high-uplift stores rather than a blanket rollout.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Bars: grey = No Promo, amber = Promo   |   basket size = Sales ÷ Customers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7200" y="4343400"/>
            <a:ext cx="6720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85800" y="4526280"/>
            <a:ext cx="6263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 don't just redistribute existing demand: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customer count, AND spend-per-customer all rise together on promo days. That combination — more people walking in and each one spending more — is what makes promo days genuinely incremental revenue, not just a discount on sales that would have happened anyway.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Store, Assortment &amp; Weekly Rhythm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trading is rare; “Extra” assortment stores over-perform; store size varies 8x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by Day of Week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37360"/>
          <a:ext cx="69494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617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average includes closed stores (most stores don't trade Sunday) — not a data error.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50749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by Assortment Type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57200" y="5394960"/>
          <a:ext cx="694944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863840" y="1737360"/>
            <a:ext cx="3840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01000" y="1847088"/>
            <a:ext cx="3566160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8.0x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8001000" y="2807208"/>
            <a:ext cx="356616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the top-selling store (avg 21,757/day) and the lowest (avg 2,704/day)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863840" y="3703320"/>
            <a:ext cx="38404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092440" y="38862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modeling: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Store-level variability is huge — a single global model needs Store / StoreType as strong features, not just promo &amp; date fields.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“Extra” assortment (rare — only ~8.2K of ~845K open-day rows) outsells other formats — verify store count before treating as a strong pattern.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Sunday trading is a rare exception — treat it as a distinct regime, not part of normal weekday seasonality.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 Effects &amp; a Train/Test Risk to Watch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distance shows no clean effect; the test period skews heavily toward school holidays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 by Competitor Distance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37360"/>
          <a:ext cx="69494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720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(distance vs sales): r = -0.036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essentially flat. The “Very Close” bin even sells highest, likely because competitors cluster in high-traffic locations — confounding distance with footfall. No city/geography field exists in this dataset to test the city-centre sub-question directly — flagged as a data limitation.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863840" y="1554480"/>
            <a:ext cx="3840480" cy="448056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 WATCH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SchoolHoliday: Train vs Test</a:t>
            </a:r>
            <a:endParaRPr lang="en-US" sz="16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8092440" y="2560320"/>
          <a:ext cx="33832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8092440" y="44805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train days are school-holiday days vs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 days — the test window (Aug–Sep 2015) overlaps German summer holidays. Since SchoolHoliday is a real sales driver, the model will be evaluated on a period where that effect is heavily over-represented.
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SchoolHoliday is a strong, well-tuned feature, not an afterthought. (Promo distribution, by contrast, is well-matched: 38.2% train vs 39.6% test.)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2026-09-02T08:44:20Z</dcterms:created>
  <dcterms:modified xsi:type="dcterms:W3CDTF">2026-09-02T08:44:20Z</dcterms:modified>
</cp:coreProperties>
</file>